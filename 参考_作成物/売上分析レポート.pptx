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79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Hiragino Sans"/>
              </a:defRPr>
            </a:pPr>
            <a:r>
              <a:t>売上データ分析レポート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Hiragino Sans"/>
              </a:defRPr>
            </a:pPr>
            <a:r>
              <a:t>2025年1月〜4月 売上集計結果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Hiragino Sans"/>
              </a:defRPr>
            </a:pPr>
            <a:r>
              <a:t>総売上: 2,045,800円  |  取引件数: 400件  |  対象期間: 4ヶ月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79A7"/>
                </a:solidFill>
                <a:latin typeface="Hiragino Sans"/>
              </a:defRPr>
            </a:pPr>
            <a:r>
              <a:t>エグゼクティブサマリー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4688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Hiragino Sans"/>
              </a:defRPr>
            </a:pPr>
            <a:r>
              <a:t>総売上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E79A7"/>
                </a:solidFill>
                <a:latin typeface="Hiragino Sans"/>
              </a:defRPr>
            </a:pPr>
            <a:r>
              <a:t>2,045,800円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371600"/>
            <a:ext cx="24688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Hiragino Sans"/>
              </a:defRPr>
            </a:pPr>
            <a:r>
              <a:t>取引件数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E79A7"/>
                </a:solidFill>
                <a:latin typeface="Hiragino Sans"/>
              </a:defRPr>
            </a:pPr>
            <a:r>
              <a:t>400件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24688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Hiragino Sans"/>
              </a:defRPr>
            </a:pPr>
            <a:r>
              <a:t>月平均売上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E79A7"/>
                </a:solidFill>
                <a:latin typeface="Hiragino Sans"/>
              </a:defRPr>
            </a:pPr>
            <a:r>
              <a:t>511,450円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371600"/>
            <a:ext cx="24688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Hiragino Sans"/>
              </a:defRPr>
            </a:pPr>
            <a:r>
              <a:t>最高月売上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E79A7"/>
                </a:solidFill>
                <a:latin typeface="Hiragino Sans"/>
              </a:defRPr>
            </a:pPr>
            <a:r>
              <a:t>642,800円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Hiragino Sans"/>
              </a:defRPr>
            </a:pPr>
            <a:r>
              <a:t>・売上は1月→4月で着実に増加（1月: 449,400円 → 4月: 642,800円）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Hiragino Sans"/>
              </a:defRPr>
            </a:pPr>
            <a:r>
              <a:t>・カテゴリ別では「家電」が全体の49%を占め、圧倒的トップ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Hiragino Sans"/>
              </a:defRPr>
            </a:pPr>
            <a:r>
              <a:t>・担当者別では「鈴木」が総売上の56%を担い、突出した成績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79A7"/>
                </a:solidFill>
                <a:latin typeface="Hiragino Sans"/>
              </a:defRPr>
            </a:pPr>
            <a:r>
              <a:t>月別売上推移</a:t>
            </a:r>
          </a:p>
        </p:txBody>
      </p:sp>
      <p:pic>
        <p:nvPicPr>
          <p:cNvPr id="3" name="Picture 2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38302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Hiragino Sans"/>
              </a:defRPr>
            </a:pPr>
            <a:r>
              <a:t>月別売上一覧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0" y="1737360"/>
          <a:ext cx="3474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年月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売上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前月比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2025-01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449,400円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2025-02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334,950円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2025-03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618,650円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185%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2025-04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642,800円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104%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4114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Hiragino Sans"/>
              </a:defRPr>
            </a:pPr>
            <a:r>
              <a:t>4ヶ月で約43%の売上増加。</a:t>
            </a:r>
            <a:br/>
            <a:r>
              <a:t>3月以降の伸びが顕著。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79A7"/>
                </a:solidFill>
                <a:latin typeface="Hiragino Sans"/>
              </a:defRPr>
            </a:pPr>
            <a:r>
              <a:t>カテゴリ別売上分析</a:t>
            </a:r>
          </a:p>
        </p:txBody>
      </p:sp>
      <p:pic>
        <p:nvPicPr>
          <p:cNvPr id="3" name="Picture 2" descr="catego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3153103"/>
          </a:xfrm>
          <a:prstGeom prst="rect">
            <a:avLst/>
          </a:prstGeom>
        </p:spPr>
      </p:pic>
      <p:pic>
        <p:nvPicPr>
          <p:cNvPr id="4" name="Picture 3" descr="category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88720"/>
            <a:ext cx="4572000" cy="476114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75488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順位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カテゴリ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売上合計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構成比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家電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1,011,700円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49.5%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日用品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406,050円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19.8%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食品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378,350円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18.5%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文房具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249,700円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12.2%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79A7"/>
                </a:solidFill>
                <a:latin typeface="Hiragino Sans"/>
              </a:defRPr>
            </a:pPr>
            <a:r>
              <a:t>担当者別売上ランキング</a:t>
            </a:r>
          </a:p>
        </p:txBody>
      </p:sp>
      <p:pic>
        <p:nvPicPr>
          <p:cNvPr id="3" name="Picture 2" descr="per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404856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0" y="118872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順位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担当者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売上合計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Hiragino Sans"/>
                        </a:defRPr>
                      </a:pPr>
                      <a:r>
                        <a:t>構成比</a:t>
                      </a:r>
                    </a:p>
                  </a:txBody>
                  <a:tcPr>
                    <a:solidFill>
                      <a:srgbClr val="4E79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鈴木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1,152,350円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56.3%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佐藤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276,050円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13.5%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高橋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253,700円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12.4%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山田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204,250円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田中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159,450円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Hiragino Sans"/>
                        </a:defRPr>
                      </a:pPr>
                      <a:r>
                        <a:t>7.8%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4114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Hiragino Sans"/>
              </a:defRPr>
            </a:pPr>
            <a:r>
              <a:t>鈴木が全体の56%を占める。</a:t>
            </a:r>
            <a:br/>
            <a:r>
              <a:t>2位以下は13〜15%で拮抗。</a:t>
            </a:r>
            <a:br/>
            <a:r>
              <a:t>鈴木への依存度が高い点は要注意。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79A7"/>
                </a:solidFill>
                <a:latin typeface="Hiragino Sans"/>
              </a:defRPr>
            </a:pPr>
            <a:r>
              <a:t>まとめ・今後のポイント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79A7"/>
                </a:solidFill>
                <a:latin typeface="Hiragino Sans"/>
              </a:defRPr>
            </a:pPr>
            <a:r>
              <a:t>売上は順調に成長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Hiragino Sans"/>
              </a:defRPr>
            </a:pPr>
            <a:r>
              <a:t>1月 449,400円 → 4月 642,800円（+43%）。3月以降の伸びが顕著。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79A7"/>
                </a:solidFill>
                <a:latin typeface="Hiragino Sans"/>
              </a:defRPr>
            </a:pPr>
            <a:r>
              <a:t>家電カテゴリが売上の柱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Hiragino Sans"/>
              </a:defRPr>
            </a:pPr>
            <a:r>
              <a:t>家電が全体の49%を占める。モバイルバッテリー・イヤホン等の高単価商品が牽引。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10515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79A7"/>
                </a:solidFill>
                <a:latin typeface="Hiragino Sans"/>
              </a:defRPr>
            </a:pPr>
            <a:r>
              <a:t>鈴木の売上貢献が突出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Hiragino Sans"/>
              </a:defRPr>
            </a:pPr>
            <a:r>
              <a:t>鈴木が全売上の56%を担う。他メンバーの底上げが課題。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0515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79A7"/>
                </a:solidFill>
                <a:latin typeface="Hiragino Sans"/>
              </a:defRPr>
            </a:pPr>
            <a:r>
              <a:t>文房具カテゴリは低単価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Hiragino Sans"/>
              </a:defRPr>
            </a:pPr>
            <a:r>
              <a:t>取引件数は多いが、単価が低く売上貢献は限定的。セット販売等の施策検討余地あり。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